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38067"/>
            <a:ext cx="20483" cy="20483"/>
          </a:xfrm>
          <a:prstGeom prst="ellipse">
            <a:avLst/>
          </a:prstGeom>
          <a:solidFill>
            <a:srgbClr val="FFFFFF">
              <a:alpha val="30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3482035"/>
            <a:ext cx="22951" cy="22951"/>
          </a:xfrm>
          <a:prstGeom prst="ellipse">
            <a:avLst/>
          </a:prstGeom>
          <a:solidFill>
            <a:srgbClr val="FFFFFF">
              <a:alpha val="46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3226003"/>
            <a:ext cx="25420" cy="25420"/>
          </a:xfrm>
          <a:prstGeom prst="ellipse">
            <a:avLst/>
          </a:prstGeom>
          <a:solidFill>
            <a:srgbClr val="FFFFFF">
              <a:alpha val="32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2969971"/>
            <a:ext cx="27889" cy="27889"/>
          </a:xfrm>
          <a:prstGeom prst="ellipse">
            <a:avLst/>
          </a:prstGeom>
          <a:solidFill>
            <a:srgbClr val="FFFFFF">
              <a:alpha val="48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2713939"/>
            <a:ext cx="30358" cy="30358"/>
          </a:xfrm>
          <a:prstGeom prst="ellipse">
            <a:avLst/>
          </a:prstGeom>
          <a:solidFill>
            <a:srgbClr val="FFFFFF">
              <a:alpha val="34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2457907"/>
            <a:ext cx="32827" cy="32827"/>
          </a:xfrm>
          <a:prstGeom prst="ellipse">
            <a:avLst/>
          </a:prstGeom>
          <a:solidFill>
            <a:srgbClr val="FFFFFF">
              <a:alpha val="20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2201875"/>
            <a:ext cx="35296" cy="35296"/>
          </a:xfrm>
          <a:prstGeom prst="ellipse">
            <a:avLst/>
          </a:prstGeom>
          <a:solidFill>
            <a:srgbClr val="FFFFFF">
              <a:alpha val="36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1945843"/>
            <a:ext cx="37765" cy="37765"/>
          </a:xfrm>
          <a:prstGeom prst="ellipse">
            <a:avLst/>
          </a:prstGeom>
          <a:solidFill>
            <a:srgbClr val="FFFFFF">
              <a:alpha val="22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1689811"/>
            <a:ext cx="40234" cy="40234"/>
          </a:xfrm>
          <a:prstGeom prst="ellipse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63040" y="1433779"/>
            <a:ext cx="42702" cy="42702"/>
          </a:xfrm>
          <a:prstGeom prst="ellipse">
            <a:avLst/>
          </a:prstGeom>
          <a:solidFill>
            <a:srgbClr val="FFFFFF">
              <a:alpha val="23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0" y="1177747"/>
            <a:ext cx="45171" cy="45171"/>
          </a:xfrm>
          <a:prstGeom prst="ellipse">
            <a:avLst/>
          </a:prstGeom>
          <a:solidFill>
            <a:srgbClr val="FFFFFF">
              <a:alpha val="39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921715"/>
            <a:ext cx="20208" cy="20208"/>
          </a:xfrm>
          <a:prstGeom prst="ellipse">
            <a:avLst/>
          </a:prstGeom>
          <a:solidFill>
            <a:srgbClr val="FFFFFF">
              <a:alpha val="25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665683"/>
            <a:ext cx="22677" cy="22677"/>
          </a:xfrm>
          <a:prstGeom prst="ellipse">
            <a:avLst/>
          </a:prstGeom>
          <a:solidFill>
            <a:srgbClr val="FFFFFF">
              <a:alpha val="41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23360" y="409651"/>
            <a:ext cx="25146" cy="25146"/>
          </a:xfrm>
          <a:prstGeom prst="ellipse">
            <a:avLst/>
          </a:prstGeom>
          <a:solidFill>
            <a:srgbClr val="FFFFFF">
              <a:alpha val="27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" y="153619"/>
            <a:ext cx="27615" cy="27615"/>
          </a:xfrm>
          <a:prstGeom prst="ellipse">
            <a:avLst/>
          </a:prstGeom>
          <a:solidFill>
            <a:srgbClr val="FFFFFF">
              <a:alpha val="43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0" y="5018227"/>
            <a:ext cx="30084" cy="30084"/>
          </a:xfrm>
          <a:prstGeom prst="ellipse">
            <a:avLst/>
          </a:prstGeom>
          <a:solidFill>
            <a:srgbClr val="FFFFFF">
              <a:alpha val="29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4762195"/>
            <a:ext cx="32553" cy="32553"/>
          </a:xfrm>
          <a:prstGeom prst="ellipse">
            <a:avLst/>
          </a:prstGeom>
          <a:solidFill>
            <a:srgbClr val="FFFFFF">
              <a:alpha val="45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4506163"/>
            <a:ext cx="35022" cy="35022"/>
          </a:xfrm>
          <a:prstGeom prst="ellipse">
            <a:avLst/>
          </a:prstGeom>
          <a:solidFill>
            <a:srgbClr val="FFFFFF">
              <a:alpha val="31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51760" y="4250131"/>
            <a:ext cx="37490" cy="37490"/>
          </a:xfrm>
          <a:prstGeom prst="ellipse">
            <a:avLst/>
          </a:prstGeom>
          <a:solidFill>
            <a:srgbClr val="FFFFFF">
              <a:alpha val="4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0" y="3994099"/>
            <a:ext cx="39959" cy="39959"/>
          </a:xfrm>
          <a:prstGeom prst="ellipse">
            <a:avLst/>
          </a:prstGeom>
          <a:solidFill>
            <a:srgbClr val="FFFFFF">
              <a:alpha val="32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31920" y="3738067"/>
            <a:ext cx="42428" cy="42428"/>
          </a:xfrm>
          <a:prstGeom prst="ellipse">
            <a:avLst/>
          </a:prstGeom>
          <a:solidFill>
            <a:srgbClr val="FFFFFF">
              <a:alpha val="48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482035"/>
            <a:ext cx="44897" cy="44897"/>
          </a:xfrm>
          <a:prstGeom prst="ellipse">
            <a:avLst/>
          </a:prstGeom>
          <a:solidFill>
            <a:srgbClr val="FFFFFF">
              <a:alpha val="34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12080" y="3226003"/>
            <a:ext cx="19934" cy="19934"/>
          </a:xfrm>
          <a:prstGeom prst="ellipse">
            <a:avLst/>
          </a:prstGeom>
          <a:solidFill>
            <a:srgbClr val="FFFFFF">
              <a:alpha val="20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80160" y="2969971"/>
            <a:ext cx="22403" cy="22403"/>
          </a:xfrm>
          <a:prstGeom prst="ellipse">
            <a:avLst/>
          </a:prstGeom>
          <a:solidFill>
            <a:srgbClr val="FFFFFF">
              <a:alpha val="36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92240" y="2713939"/>
            <a:ext cx="24872" cy="24872"/>
          </a:xfrm>
          <a:prstGeom prst="ellipse">
            <a:avLst/>
          </a:prstGeom>
          <a:solidFill>
            <a:srgbClr val="FFFFFF">
              <a:alpha val="22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0" y="2457907"/>
            <a:ext cx="27341" cy="27341"/>
          </a:xfrm>
          <a:prstGeom prst="ellipse">
            <a:avLst/>
          </a:prstGeom>
          <a:solidFill>
            <a:srgbClr val="FFFFFF">
              <a:alpha val="38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72400" y="2201875"/>
            <a:ext cx="29809" cy="29809"/>
          </a:xfrm>
          <a:prstGeom prst="ellipse">
            <a:avLst/>
          </a:prstGeom>
          <a:solidFill>
            <a:srgbClr val="FFFFFF">
              <a:alpha val="24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0480" y="1945843"/>
            <a:ext cx="32278" cy="32278"/>
          </a:xfrm>
          <a:prstGeom prst="ellipse">
            <a:avLst/>
          </a:prstGeom>
          <a:solidFill>
            <a:srgbClr val="FFFFFF">
              <a:alpha val="40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52560" y="1689811"/>
            <a:ext cx="34747" cy="34747"/>
          </a:xfrm>
          <a:prstGeom prst="ellipse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20640" y="1433779"/>
            <a:ext cx="37216" cy="37216"/>
          </a:xfrm>
          <a:prstGeom prst="ellipse">
            <a:avLst/>
          </a:prstGeom>
          <a:solidFill>
            <a:srgbClr val="FFFFFF">
              <a:alpha val="41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88720" y="1177747"/>
            <a:ext cx="39685" cy="39685"/>
          </a:xfrm>
          <a:prstGeom prst="ellipse">
            <a:avLst/>
          </a:prstGeom>
          <a:solidFill>
            <a:srgbClr val="FFFFFF">
              <a:alpha val="27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921715"/>
            <a:ext cx="42154" cy="42154"/>
          </a:xfrm>
          <a:prstGeom prst="ellipse">
            <a:avLst/>
          </a:prstGeom>
          <a:solidFill>
            <a:srgbClr val="FFFFFF">
              <a:alpha val="43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68880" y="665683"/>
            <a:ext cx="44623" cy="44623"/>
          </a:xfrm>
          <a:prstGeom prst="ellipse">
            <a:avLst/>
          </a:prstGeom>
          <a:solidFill>
            <a:srgbClr val="FFFFFF">
              <a:alpha val="29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80960" y="409651"/>
            <a:ext cx="19660" cy="19660"/>
          </a:xfrm>
          <a:prstGeom prst="ellipse">
            <a:avLst/>
          </a:prstGeom>
          <a:solidFill>
            <a:srgbClr val="FFFFFF">
              <a:alpha val="45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49040" y="153619"/>
            <a:ext cx="22128" cy="22128"/>
          </a:xfrm>
          <a:prstGeom prst="ellipse">
            <a:avLst/>
          </a:prstGeom>
          <a:solidFill>
            <a:srgbClr val="FFFFFF">
              <a:alpha val="31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61120" y="5018227"/>
            <a:ext cx="24597" cy="24597"/>
          </a:xfrm>
          <a:prstGeom prst="ellipse">
            <a:avLst/>
          </a:prstGeom>
          <a:solidFill>
            <a:srgbClr val="FFFFFF">
              <a:alpha val="47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29200" y="4762195"/>
            <a:ext cx="27066" cy="27066"/>
          </a:xfrm>
          <a:prstGeom prst="ellipse">
            <a:avLst/>
          </a:prstGeom>
          <a:solidFill>
            <a:srgbClr val="FFFFFF">
              <a:alpha val="33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97280" y="4506163"/>
            <a:ext cx="29535" cy="29535"/>
          </a:xfrm>
          <a:prstGeom prst="ellipse">
            <a:avLst/>
          </a:prstGeom>
          <a:solidFill>
            <a:srgbClr val="FFFFFF">
              <a:alpha val="49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09360" y="4250131"/>
            <a:ext cx="32004" cy="32004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377440" y="3994099"/>
            <a:ext cx="34473" cy="34473"/>
          </a:xfrm>
          <a:prstGeom prst="ellipse">
            <a:avLst/>
          </a:prstGeom>
          <a:solidFill>
            <a:srgbClr val="FFFFFF">
              <a:alpha val="20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89520" y="3738067"/>
            <a:ext cx="36942" cy="36942"/>
          </a:xfrm>
          <a:prstGeom prst="ellipse">
            <a:avLst/>
          </a:prstGeom>
          <a:solidFill>
            <a:srgbClr val="FFFFFF">
              <a:alpha val="36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0" y="3482035"/>
            <a:ext cx="39411" cy="39411"/>
          </a:xfrm>
          <a:prstGeom prst="ellipse">
            <a:avLst/>
          </a:prstGeom>
          <a:solidFill>
            <a:srgbClr val="FFFFFF">
              <a:alpha val="22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69680" y="3226003"/>
            <a:ext cx="41880" cy="41880"/>
          </a:xfrm>
          <a:prstGeom prst="ellipse">
            <a:avLst/>
          </a:prstGeom>
          <a:solidFill>
            <a:srgbClr val="FFFFFF">
              <a:alpha val="38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37760" y="2969971"/>
            <a:ext cx="44348" cy="44348"/>
          </a:xfrm>
          <a:prstGeom prst="ellipse">
            <a:avLst/>
          </a:prstGeom>
          <a:solidFill>
            <a:srgbClr val="FFFFFF">
              <a:alpha val="24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05840" y="2713939"/>
            <a:ext cx="19385" cy="19385"/>
          </a:xfrm>
          <a:prstGeom prst="ellipse">
            <a:avLst/>
          </a:prstGeom>
          <a:solidFill>
            <a:srgbClr val="FFFFFF">
              <a:alpha val="40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17920" y="2457907"/>
            <a:ext cx="21854" cy="21854"/>
          </a:xfrm>
          <a:prstGeom prst="ellipse">
            <a:avLst/>
          </a:prstGeom>
          <a:solidFill>
            <a:srgbClr val="FFFFFF">
              <a:alpha val="26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86000" y="2201875"/>
            <a:ext cx="24323" cy="24323"/>
          </a:xfrm>
          <a:prstGeom prst="ellipse">
            <a:avLst/>
          </a:prstGeom>
          <a:solidFill>
            <a:srgbClr val="FFFFFF">
              <a:alpha val="42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498080" y="1945843"/>
            <a:ext cx="26792" cy="26792"/>
          </a:xfrm>
          <a:prstGeom prst="ellipse">
            <a:avLst/>
          </a:prstGeom>
          <a:solidFill>
            <a:srgbClr val="FFFFFF">
              <a:alpha val="28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BİLDİRİ SUNUMU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548640" y="100584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Yörüngesi Temelli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Bir Matematik Oyununun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Okul Öncesi ve İlkokul Düzeyinde Uygulanması:</a:t>
            </a:r>
            <a:endParaRPr lang="en-US" sz="2600" dirty="0"/>
          </a:p>
        </p:txBody>
      </p:sp>
      <p:sp>
        <p:nvSpPr>
          <p:cNvPr id="65" name="Text 63"/>
          <p:cNvSpPr/>
          <p:nvPr/>
        </p:nvSpPr>
        <p:spPr>
          <a:xfrm>
            <a:off x="548640" y="26974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</a:t>
            </a:r>
            <a:endParaRPr lang="en-US" sz="6000" dirty="0"/>
          </a:p>
        </p:txBody>
      </p:sp>
      <p:sp>
        <p:nvSpPr>
          <p:cNvPr id="66" name="Shape 64"/>
          <p:cNvSpPr/>
          <p:nvPr/>
        </p:nvSpPr>
        <p:spPr>
          <a:xfrm>
            <a:off x="548640" y="3611880"/>
            <a:ext cx="137160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Yılmaz Mutlu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Muş Alparslan Üniversitesi  •  y.mutlu@alparslan.edu.tr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Matematik Öğretiminde Örnek Uygulamalar Kongresi — III  •  Nisan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38067"/>
            <a:ext cx="20483" cy="20483"/>
          </a:xfrm>
          <a:prstGeom prst="ellipse">
            <a:avLst/>
          </a:prstGeom>
          <a:solidFill>
            <a:srgbClr val="FFFFFF">
              <a:alpha val="30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3482035"/>
            <a:ext cx="22951" cy="22951"/>
          </a:xfrm>
          <a:prstGeom prst="ellipse">
            <a:avLst/>
          </a:prstGeom>
          <a:solidFill>
            <a:srgbClr val="FFFFFF">
              <a:alpha val="46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3226003"/>
            <a:ext cx="25420" cy="25420"/>
          </a:xfrm>
          <a:prstGeom prst="ellipse">
            <a:avLst/>
          </a:prstGeom>
          <a:solidFill>
            <a:srgbClr val="FFFFFF">
              <a:alpha val="32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2969971"/>
            <a:ext cx="27889" cy="27889"/>
          </a:xfrm>
          <a:prstGeom prst="ellipse">
            <a:avLst/>
          </a:prstGeom>
          <a:solidFill>
            <a:srgbClr val="FFFFFF">
              <a:alpha val="48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2713939"/>
            <a:ext cx="30358" cy="30358"/>
          </a:xfrm>
          <a:prstGeom prst="ellipse">
            <a:avLst/>
          </a:prstGeom>
          <a:solidFill>
            <a:srgbClr val="FFFFFF">
              <a:alpha val="34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2457907"/>
            <a:ext cx="32827" cy="32827"/>
          </a:xfrm>
          <a:prstGeom prst="ellipse">
            <a:avLst/>
          </a:prstGeom>
          <a:solidFill>
            <a:srgbClr val="FFFFFF">
              <a:alpha val="20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2201875"/>
            <a:ext cx="35296" cy="35296"/>
          </a:xfrm>
          <a:prstGeom prst="ellipse">
            <a:avLst/>
          </a:prstGeom>
          <a:solidFill>
            <a:srgbClr val="FFFFFF">
              <a:alpha val="36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1945843"/>
            <a:ext cx="37765" cy="37765"/>
          </a:xfrm>
          <a:prstGeom prst="ellipse">
            <a:avLst/>
          </a:prstGeom>
          <a:solidFill>
            <a:srgbClr val="FFFFFF">
              <a:alpha val="22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1689811"/>
            <a:ext cx="40234" cy="40234"/>
          </a:xfrm>
          <a:prstGeom prst="ellipse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63040" y="1433779"/>
            <a:ext cx="42702" cy="42702"/>
          </a:xfrm>
          <a:prstGeom prst="ellipse">
            <a:avLst/>
          </a:prstGeom>
          <a:solidFill>
            <a:srgbClr val="FFFFFF">
              <a:alpha val="23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0" y="1177747"/>
            <a:ext cx="45171" cy="45171"/>
          </a:xfrm>
          <a:prstGeom prst="ellipse">
            <a:avLst/>
          </a:prstGeom>
          <a:solidFill>
            <a:srgbClr val="FFFFFF">
              <a:alpha val="39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921715"/>
            <a:ext cx="20208" cy="20208"/>
          </a:xfrm>
          <a:prstGeom prst="ellipse">
            <a:avLst/>
          </a:prstGeom>
          <a:solidFill>
            <a:srgbClr val="FFFFFF">
              <a:alpha val="25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665683"/>
            <a:ext cx="22677" cy="22677"/>
          </a:xfrm>
          <a:prstGeom prst="ellipse">
            <a:avLst/>
          </a:prstGeom>
          <a:solidFill>
            <a:srgbClr val="FFFFFF">
              <a:alpha val="41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 Akışı</a:t>
            </a:r>
            <a:endParaRPr lang="en-US" sz="3200" dirty="0"/>
          </a:p>
        </p:txBody>
      </p:sp>
      <p:sp>
        <p:nvSpPr>
          <p:cNvPr id="28" name="Shape 26"/>
          <p:cNvSpPr/>
          <p:nvPr/>
        </p:nvSpPr>
        <p:spPr>
          <a:xfrm>
            <a:off x="548640" y="100584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1280160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28016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ve Gerekçe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80160" y="1527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Diskalkuli, sayı hissi ve erken müdahale ihtiyacı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1847088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280160" y="1801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Kuramsal Çerçeve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80160" y="20939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yörüngeleri, üçlü kodlama, somuttan soyuta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2414016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280160" y="236829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GalakSay'ın Tasarımı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80160" y="26609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Mimari, modüller, oyunlaştırma ve adaptif sistem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2980944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2980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280160" y="29352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Görüntüleri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80160" y="3227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Karşılama, galaksi haritası, modüller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3547872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3547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1280160" y="35021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Sentetik Pilot Çalışma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280160" y="3794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In-silico ön çalışma — bulgular ve kalibrasyon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" y="4114800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1280160" y="4069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Tartışma ve Yol Haritası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280160" y="4361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Sınırlılıklar, sahada-pilot planı, gelecek araştırma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38067"/>
            <a:ext cx="20483" cy="20483"/>
          </a:xfrm>
          <a:prstGeom prst="ellipse">
            <a:avLst/>
          </a:prstGeom>
          <a:solidFill>
            <a:srgbClr val="FFFFFF">
              <a:alpha val="30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3482035"/>
            <a:ext cx="22951" cy="22951"/>
          </a:xfrm>
          <a:prstGeom prst="ellipse">
            <a:avLst/>
          </a:prstGeom>
          <a:solidFill>
            <a:srgbClr val="FFFFFF">
              <a:alpha val="46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3226003"/>
            <a:ext cx="25420" cy="25420"/>
          </a:xfrm>
          <a:prstGeom prst="ellipse">
            <a:avLst/>
          </a:prstGeom>
          <a:solidFill>
            <a:srgbClr val="FFFFFF">
              <a:alpha val="32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2969971"/>
            <a:ext cx="27889" cy="27889"/>
          </a:xfrm>
          <a:prstGeom prst="ellipse">
            <a:avLst/>
          </a:prstGeom>
          <a:solidFill>
            <a:srgbClr val="FFFFFF">
              <a:alpha val="48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2713939"/>
            <a:ext cx="30358" cy="30358"/>
          </a:xfrm>
          <a:prstGeom prst="ellipse">
            <a:avLst/>
          </a:prstGeom>
          <a:solidFill>
            <a:srgbClr val="FFFFFF">
              <a:alpha val="34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2457907"/>
            <a:ext cx="32827" cy="32827"/>
          </a:xfrm>
          <a:prstGeom prst="ellipse">
            <a:avLst/>
          </a:prstGeom>
          <a:solidFill>
            <a:srgbClr val="FFFFFF">
              <a:alpha val="20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2201875"/>
            <a:ext cx="35296" cy="35296"/>
          </a:xfrm>
          <a:prstGeom prst="ellipse">
            <a:avLst/>
          </a:prstGeom>
          <a:solidFill>
            <a:srgbClr val="FFFFFF">
              <a:alpha val="36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1945843"/>
            <a:ext cx="37765" cy="37765"/>
          </a:xfrm>
          <a:prstGeom prst="ellipse">
            <a:avLst/>
          </a:prstGeom>
          <a:solidFill>
            <a:srgbClr val="FFFFFF">
              <a:alpha val="22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ve Gerekçe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548640" y="96012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1280160"/>
            <a:ext cx="3840480" cy="100584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1325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%5–7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210312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Diskalkuli prevalansı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0312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Shalev (2007); Butterworth (2010)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2377440"/>
            <a:ext cx="3840480" cy="100584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423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4–7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2103120" y="2514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 kritik dönem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0312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 hissi ve sembolik sistem köprüsü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3474720"/>
            <a:ext cx="3840480" cy="100584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520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800" dirty="0"/>
          </a:p>
        </p:txBody>
      </p:sp>
      <p:sp>
        <p:nvSpPr>
          <p:cNvPr id="34" name="Text 32"/>
          <p:cNvSpPr/>
          <p:nvPr/>
        </p:nvSpPr>
        <p:spPr>
          <a:xfrm>
            <a:off x="2103120" y="3611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müdahale verimi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10312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 müdahaleye göre öğrenme kazancı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Dijital Bir Oyun?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663440" y="169164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Geleneksel müdahale araçları, çocukların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bireysel yörüngelerine uyarlanabilirlik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açısından sınırlıdır. Adaptif bir dijital ortam, hem bireysel öğrenme hızına hem de gelişimsel düzeye eş zamanlı uyum sağlayabilir.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663440" y="3017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Araştırma Sorusu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63440" y="34290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Clements &amp; Sarama'nın öğrenme yörüngeleri kuramı temelinde tasarlanmış dijital bir matematik oyunu, 4–7 yaş çocuklarının sayı hissi gelişimini hedef-yörünge ölçeğinde nasıl destekleyebilir?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38067"/>
            <a:ext cx="20483" cy="20483"/>
          </a:xfrm>
          <a:prstGeom prst="ellipse">
            <a:avLst/>
          </a:prstGeom>
          <a:solidFill>
            <a:srgbClr val="FFFFFF">
              <a:alpha val="30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3482035"/>
            <a:ext cx="22951" cy="22951"/>
          </a:xfrm>
          <a:prstGeom prst="ellipse">
            <a:avLst/>
          </a:prstGeom>
          <a:solidFill>
            <a:srgbClr val="FFFFFF">
              <a:alpha val="46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3226003"/>
            <a:ext cx="25420" cy="25420"/>
          </a:xfrm>
          <a:prstGeom prst="ellipse">
            <a:avLst/>
          </a:prstGeom>
          <a:solidFill>
            <a:srgbClr val="FFFFFF">
              <a:alpha val="32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Kuramsal Çerçeve I — Öğrenme Yörüngeleri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48640" y="96012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129844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Yörüngeleri (Learning Trajectories):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Çocukların belirli bir matematiksel kavrama ulaşmak için izledikleri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 edilebilir gelişim yolu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bu yolu desteklemek üzere tasarlanmış öğretim görevlerinin bütünüdür.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2331720"/>
            <a:ext cx="2560320" cy="146304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2331720"/>
            <a:ext cx="25603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Gelişimsel Aşamalar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28803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Çocuk düşüncesinin kavramsal sırasını betimleyen düzeyler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2331720"/>
            <a:ext cx="2560320" cy="146304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2331720"/>
            <a:ext cx="256032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Kavram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29000" y="28803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Yörüngenin ulaşmaya yöneldiği matematiksel hedef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331720"/>
            <a:ext cx="2560320" cy="146304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2331720"/>
            <a:ext cx="256032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Öğretimsel Görevler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72200" y="28803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Düzeyden düzeye geçişi destekleyen, kanıt-temelli etkinlikler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solidFill>
            <a:srgbClr val="1E2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114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GalakSay'ın LT Temeli: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Clements &amp; Sarama (2017/2019). 18 yörünge × 5–19 düzey. </a:t>
            </a:r>
            <a:pPr indent="0" marL="0">
              <a:buNone/>
            </a:pPr>
            <a:r>
              <a:rPr lang="en-US" sz="10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LearningTrajectories.org / Marsico Institute, University of Denver.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38067"/>
            <a:ext cx="20483" cy="20483"/>
          </a:xfrm>
          <a:prstGeom prst="ellipse">
            <a:avLst/>
          </a:prstGeom>
          <a:solidFill>
            <a:srgbClr val="FFFFFF">
              <a:alpha val="30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3482035"/>
            <a:ext cx="22951" cy="22951"/>
          </a:xfrm>
          <a:prstGeom prst="ellipse">
            <a:avLst/>
          </a:prstGeom>
          <a:solidFill>
            <a:srgbClr val="FFFFFF">
              <a:alpha val="46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3226003"/>
            <a:ext cx="25420" cy="25420"/>
          </a:xfrm>
          <a:prstGeom prst="ellipse">
            <a:avLst/>
          </a:prstGeom>
          <a:solidFill>
            <a:srgbClr val="FFFFFF">
              <a:alpha val="32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Kuramsal Çerçeve II — Üçlü Kodlama Modeli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48640" y="96012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1280160"/>
            <a:ext cx="4023360" cy="868680"/>
          </a:xfrm>
          <a:prstGeom prst="rect">
            <a:avLst/>
          </a:prstGeom>
          <a:solidFill>
            <a:srgbClr val="00D4AA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SOMUT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Yıldız Taşı, Pul, Enerji Kapsülü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286000"/>
            <a:ext cx="4023360" cy="868680"/>
          </a:xfrm>
          <a:prstGeom prst="rect">
            <a:avLst/>
          </a:prstGeom>
          <a:solidFill>
            <a:srgbClr val="6C63FF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377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5800" y="2743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10'luk Çerçeve, Sayı Doğrusu, Dizi Modeli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291840"/>
            <a:ext cx="4023360" cy="868680"/>
          </a:xfrm>
          <a:prstGeom prst="rect">
            <a:avLst/>
          </a:prstGeom>
          <a:solidFill>
            <a:srgbClr val="FFD93D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383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SEMBOLİK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" y="3749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Rakam, sözel temsil, denklem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Akışı (KEŞFET → BAĞLA)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937760" y="1691640"/>
            <a:ext cx="411480" cy="41148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86400" y="1691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KEŞFET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Somut materyalle serbest manipülasyon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37760" y="2331720"/>
            <a:ext cx="411480" cy="4114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86400" y="2331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0" y="2560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Somuttan görsel temsile dönüşüm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37760" y="2971800"/>
            <a:ext cx="411480" cy="411480"/>
          </a:xfrm>
          <a:prstGeom prst="ellipse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86400" y="2971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ADLANDIR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8640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Görselden sembolik ifadeye geçiş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37760" y="3611880"/>
            <a:ext cx="411480" cy="4114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486400" y="3611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0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katmanın senkron etkileşimi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Dehaene (1992); Dehaene &amp; Cohen (1997). Triple-code model.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38067"/>
            <a:ext cx="20483" cy="20483"/>
          </a:xfrm>
          <a:prstGeom prst="ellipse">
            <a:avLst/>
          </a:prstGeom>
          <a:solidFill>
            <a:srgbClr val="FFFFFF">
              <a:alpha val="30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3482035"/>
            <a:ext cx="22951" cy="22951"/>
          </a:xfrm>
          <a:prstGeom prst="ellipse">
            <a:avLst/>
          </a:prstGeom>
          <a:solidFill>
            <a:srgbClr val="FFFFFF">
              <a:alpha val="46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3226003"/>
            <a:ext cx="25420" cy="25420"/>
          </a:xfrm>
          <a:prstGeom prst="ellipse">
            <a:avLst/>
          </a:prstGeom>
          <a:solidFill>
            <a:srgbClr val="FFFFFF">
              <a:alpha val="32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2969971"/>
            <a:ext cx="27889" cy="27889"/>
          </a:xfrm>
          <a:prstGeom prst="ellipse">
            <a:avLst/>
          </a:prstGeom>
          <a:solidFill>
            <a:srgbClr val="FFFFFF">
              <a:alpha val="48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2713939"/>
            <a:ext cx="30358" cy="30358"/>
          </a:xfrm>
          <a:prstGeom prst="ellipse">
            <a:avLst/>
          </a:prstGeom>
          <a:solidFill>
            <a:srgbClr val="FFFFFF">
              <a:alpha val="34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2457907"/>
            <a:ext cx="32827" cy="32827"/>
          </a:xfrm>
          <a:prstGeom prst="ellipse">
            <a:avLst/>
          </a:prstGeom>
          <a:solidFill>
            <a:srgbClr val="FFFFFF">
              <a:alpha val="20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2201875"/>
            <a:ext cx="35296" cy="35296"/>
          </a:xfrm>
          <a:prstGeom prst="ellipse">
            <a:avLst/>
          </a:prstGeom>
          <a:solidFill>
            <a:srgbClr val="FFFFFF">
              <a:alpha val="36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1945843"/>
            <a:ext cx="37765" cy="37765"/>
          </a:xfrm>
          <a:prstGeom prst="ellipse">
            <a:avLst/>
          </a:prstGeom>
          <a:solidFill>
            <a:srgbClr val="FFFFFF">
              <a:alpha val="22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— Tasarım Felsefesi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548640" y="96012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Galaktik metafor: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Çocuk, sönmekte olan bir galaksinin kayıp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Sekiz Işık Kristali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'ni geri getirmek için yörüngeden yörüngeye yolculuk eder. Her kristal, bir matematiksel yörüngenin ustalaşma simgesidir.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2286000"/>
            <a:ext cx="3931920" cy="9601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2286000"/>
            <a:ext cx="73152" cy="960120"/>
          </a:xfrm>
          <a:prstGeom prst="rect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2395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Yörünge-Hedefli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2743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etkinlik bir LT düzeyine eşlenmiş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286000"/>
            <a:ext cx="3931920" cy="9601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286000"/>
            <a:ext cx="73152" cy="96012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395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Adaptif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83480" y="2743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%75 doğru hedefli scaffold-fading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3429000"/>
            <a:ext cx="3931920" cy="9601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3429000"/>
            <a:ext cx="73152" cy="960120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3538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Temsil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77240" y="3886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Somut–Görsel–Sembolik senkronizasyonu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429000"/>
            <a:ext cx="3931920" cy="9601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429000"/>
            <a:ext cx="73152" cy="960120"/>
          </a:xfrm>
          <a:prstGeom prst="rect">
            <a:avLst/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3538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Anlam Yüklü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983480" y="3886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Hikâye, karakter, görev tabanlı motivasyon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GalakSay'ın Pedagojik Mimarisi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0" descr="/sessions/exciting-quirky-darwin/mnt/outputs/charts/06_pedagogical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36576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38067"/>
            <a:ext cx="20483" cy="20483"/>
          </a:xfrm>
          <a:prstGeom prst="ellipse">
            <a:avLst/>
          </a:prstGeom>
          <a:solidFill>
            <a:srgbClr val="FFFFFF">
              <a:alpha val="30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3482035"/>
            <a:ext cx="22951" cy="22951"/>
          </a:xfrm>
          <a:prstGeom prst="ellipse">
            <a:avLst/>
          </a:prstGeom>
          <a:solidFill>
            <a:srgbClr val="FFFFFF">
              <a:alpha val="46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3226003"/>
            <a:ext cx="25420" cy="25420"/>
          </a:xfrm>
          <a:prstGeom prst="ellipse">
            <a:avLst/>
          </a:prstGeom>
          <a:solidFill>
            <a:srgbClr val="FFFFFF">
              <a:alpha val="32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Envanteri — 65 Modül, 8 Kategori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1188720"/>
            <a:ext cx="1874520" cy="11887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132588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1325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Sayma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modül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51760" y="1188720"/>
            <a:ext cx="1874520" cy="11887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61488" y="1325880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6148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91840" y="1325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Anlık Sayı Algı.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61488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modül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188720"/>
            <a:ext cx="1874520" cy="11887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64608" y="1325880"/>
            <a:ext cx="457200" cy="4572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94960" y="1325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Karşılaştırma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64608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modül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0" y="1188720"/>
            <a:ext cx="1874520" cy="11887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67728" y="1325880"/>
            <a:ext cx="457200" cy="45720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6772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8080" y="1325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 Bileşimi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67728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modül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2560320"/>
            <a:ext cx="1874520" cy="11887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8368" y="2697480"/>
            <a:ext cx="457200" cy="45720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18872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Basamak Değeri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8368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modül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51760" y="2560320"/>
            <a:ext cx="1874520" cy="11887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61488" y="2697480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61488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329184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Toplama–Çıkarma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761488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modül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2560320"/>
            <a:ext cx="1874520" cy="11887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64608" y="2697480"/>
            <a:ext cx="457200" cy="457200"/>
          </a:xfrm>
          <a:prstGeom prst="ellipse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64608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539496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Çarpma–Bölme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864608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modül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858000" y="2560320"/>
            <a:ext cx="1874520" cy="11887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67728" y="2697480"/>
            <a:ext cx="457200" cy="4572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67728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749808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Örüntü/Cebir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967728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modül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48640" y="4069080"/>
            <a:ext cx="8046720" cy="594360"/>
          </a:xfrm>
          <a:prstGeom prst="rect">
            <a:avLst/>
          </a:prstGeom>
          <a:solidFill>
            <a:srgbClr val="1E2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" y="4160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Yörünge eşlemesi: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modül en az bir Clements &amp; Sarama yörüngesinin belirli LT düzeyine eşlenmiştir. </a:t>
            </a:r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 (2024) okul öncesi ve ilkokul kazanımlarıyla çapraz haritalama yapılmıştır.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Adaptif Destek — 5 Kademeli İpucu Sistemi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 cevap → kademeli yardım. Çocuk ipucu istedikçe kademe artar; doğru çözüme ulaşıldığında geri çekilir.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1673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Yönlendirici Soru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Modüle özgü sözel ipucu (örn. 'Önce 5'liği bul')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2258568"/>
            <a:ext cx="457200" cy="4572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Vurgulama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24871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hedefi yanıp sönen çerçeve/ok ile işaretleme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2825496"/>
            <a:ext cx="457200" cy="4572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2807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Kısmi Animasyon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30540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Çözümün ilk adımını animasyonlu gösterme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392424"/>
            <a:ext cx="457200" cy="45720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80160" y="33741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Animasyon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80160" y="3621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çözümün adım adım didaktik animasyonu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3959352"/>
            <a:ext cx="457200" cy="4572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80160" y="39410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Somut Deneyim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80160" y="4187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Yönlendirmeli sürükle-bırak (model imitasyonu)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1691640"/>
            <a:ext cx="3840480" cy="274320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Bilişsel Yük Yönetimi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029200" y="228600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Kademeli scaffolding (Vygotsky, ZPD)
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Hata sonrası destek (Calcularis modeli)
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%75 doğruluk hedefi (Number Race)
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 ardışık doğru → ipucu geri çekilir
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Modüle özgü sözel ipuçları (43+ modül)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Görüntüleri — Karşılama Akışı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4" name="Image 0" descr="/sessions/exciting-quirky-darwin/mnt/outputs/final_screens/01_karsilam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43000"/>
            <a:ext cx="2606040" cy="26974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8640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Karşılama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4251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Numéra Yıldızı'nın hikâye girişi</a:t>
            </a:r>
            <a:endParaRPr lang="en-US" sz="1000" dirty="0"/>
          </a:p>
        </p:txBody>
      </p:sp>
      <p:pic>
        <p:nvPicPr>
          <p:cNvPr id="17" name="Image 1" descr="/sessions/exciting-quirky-darwin/mnt/outputs/final_screens/02_kayit_formu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37560" y="1143000"/>
            <a:ext cx="2606040" cy="2697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37560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 Formu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337560" y="4251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 ve sınıf seçimi (4–10 yaş)</a:t>
            </a:r>
            <a:endParaRPr lang="en-US" sz="1000" dirty="0"/>
          </a:p>
        </p:txBody>
      </p:sp>
      <p:pic>
        <p:nvPicPr>
          <p:cNvPr id="20" name="Image 2" descr="/sessions/exciting-quirky-darwin/mnt/outputs/final_screens/03_sinif_secimi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6480" y="1143000"/>
            <a:ext cx="2606040" cy="2697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6480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Dashboard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126480" y="4251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Okul Öncesi / 1. Sınıf / 2. Sınıf rotaları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Görüntüleri — Galaksi Haritası ve Modüller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4" name="Image 0" descr="/sessions/exciting-quirky-darwin/mnt/outputs/final_screens/05_galaksi_haritas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43000"/>
            <a:ext cx="2606040" cy="26974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8640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Galaksi Haritası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4251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durak, ışık kristalleri, kaptan günlüğü, ilerleme</a:t>
            </a:r>
            <a:endParaRPr lang="en-US" sz="1000" dirty="0"/>
          </a:p>
        </p:txBody>
      </p:sp>
      <p:pic>
        <p:nvPicPr>
          <p:cNvPr id="17" name="Image 1" descr="/sessions/exciting-quirky-darwin/mnt/outputs/final_screens/07_sayma_kategorisi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37560" y="1143000"/>
            <a:ext cx="2606040" cy="2697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37560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Sayma Kategorisi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337560" y="4251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Yörünge düğümleri ve modül bağlantıları</a:t>
            </a:r>
            <a:endParaRPr lang="en-US" sz="1000" dirty="0"/>
          </a:p>
        </p:txBody>
      </p:sp>
      <p:pic>
        <p:nvPicPr>
          <p:cNvPr id="20" name="Image 2" descr="/sessions/exciting-quirky-darwin/mnt/outputs/final_screens/08_modul_giri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6480" y="1143000"/>
            <a:ext cx="2606040" cy="2697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6480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Girişi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126480" y="4251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Sayacık karakteri ile görev tanıtımı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Sentetik Pilot Çalışma — Yöntem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051560"/>
            <a:ext cx="8046720" cy="713232"/>
          </a:xfrm>
          <a:prstGeom prst="rect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11430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ÖNEMLİ: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sentetik ajan simülasyonu gerçek çocuk verisinin yerini tutmaz. Amaç (a) tasarım kararlarının iç tutarlılığını test etmek, (b) zorluk basamaklarını kalibre etmek, (c) sahada-pilotta beklenen veri yapılarını öngörmektir.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1874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 Bileşenleri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224028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36 sentetik ajan profili
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yörünge basamağı (LT 4–16)
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1-PL Rasch modeli (zorluk × yetenek)
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Üstel öğrenme oranı (her denemede +Δθ)
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Çalışma belleği × ipucu olasılığı
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Ustalaşma: 3 ardışık ≥%75 doğru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54880" y="1874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Boyutları (3 × 2 × 4 yaş)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240280"/>
          <a:ext cx="3931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Düzeyler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7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5 / 6 / 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Sayı hissi (θ)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 / Tipik / İleri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Diskalkuli riski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/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Çalışma belleği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0.4–0.95 (sürekli)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Motivasyon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0.6–1.0 (sürekli)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8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 I — Profil Tipinin Ustalaşma Üzerindeki Etkisi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48640" y="86868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0" descr="/sessions/exciting-quirky-darwin/mnt/outputs/charts/02_profile_mast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5943600" cy="338328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400800" y="1051560"/>
            <a:ext cx="2468880" cy="329184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37960" y="1143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Bulgular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537960" y="150876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Risksiz × Tipik: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%87 ustalaşma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Riskli × Düşük: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%14 ustalaşma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Yorum: </a:t>
            </a:r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zorluk basamakları, riskli grup için yetersiz destek sunuyor — daha düşük başlangıç düzeyine ihtiyaç var.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 II — Yörünge Basamaklarının Kalibrasyonu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48640" y="86868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0" descr="/sessions/exciting-quirky-darwin/mnt/outputs/charts/01_mastery_per_lev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32918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4864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Çıkarım: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Yeşil basamaklar (≥%70) iyi kalibre edilmiş; sarı (40-70) yeniden gözden geçirilmeli;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turuncu basamaklar (≤%40) — özellikle T17 (10'a tamamla) ve T10 (sıralama) — ön gereksinim modüllerine ek alıştırma eklenerek kalibre edilmelidir.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 III — Profil × Basamak Etkileşim Haritası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48640" y="86868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0" descr="/sessions/exciting-quirky-darwin/mnt/outputs/charts/04_profile_level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8412480" cy="31089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4864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 önerisi: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sayı hissi profili için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 (Kavramsal Sanbil) ve sonrası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ndan önce, ek bir köprü modül (T07.5 — '5'lik gruplama') eklenmesi önerilir. Yüksek sayı hissi profili tüm basamaklarda hedefe ulaşıyor: ileri profil için zorluk artışı yapılabilir.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Tartışma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097280"/>
            <a:ext cx="3931920" cy="329184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097280"/>
            <a:ext cx="39319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Katkılar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15544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Türkçe için yörünge-temelli ilk dijital matematik oyunu prototipi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Diskalkuli risk profiline duyarlı adaptif tasarım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Üçlü kodlama × LT × adaptif ipucu üçlüsünün tek bir mimari içinde sentezi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Sentetik pilot ile sahada-pilot öncesi kalibrasyon yöntemi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MEB kazanımları ile çapraz haritalama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3931920" cy="329184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Sınırlılıklar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15544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Sentetik veri, gerçek çocuk verisinin yerini tutmaz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Rasch modeli, motivasyon dinamiklerini sadeleştirir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Öğretmen-aracılı kullanım simüle edilmedi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Kültürel uyarlama ve dil çeşitliliği test edilmedi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Uzun vadeli transfer ve kalıcılık ölçülmedi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Haritası — Sahada Pilot Çalışma Planı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91440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280160"/>
            <a:ext cx="1874520" cy="30175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280160"/>
            <a:ext cx="18745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1417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Mayıs 2026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 Onay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214884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Üniversite etik kurul başvurusu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Veli izinleri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Okul izinleri
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51760" y="1280160"/>
            <a:ext cx="1874520" cy="30175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51760" y="1280160"/>
            <a:ext cx="187452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1417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Haziran 2026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8892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Uygulama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88920" y="214884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n=24 (4–7 yaş, %50 risk)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hafta × 2 oturum/hafta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Oturum süresi 15–20 dk
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1280160"/>
            <a:ext cx="1874520" cy="30175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280160"/>
            <a:ext cx="187452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417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Temmuz 2026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Analizi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92040" y="214884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Sentetik ↔ gerçek karşılaştırma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TEMA-3, MEGEP ön/son test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Kullanılabilirlik ölçümü (SUS-Kid)
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0" y="1280160"/>
            <a:ext cx="1874520" cy="301752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0" y="1280160"/>
            <a:ext cx="187452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1417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Eylül 2026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9516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Yayım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95160" y="214884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Kalibrasyon raporu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Hakemli dergi makalesi
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Versiyon 6.0 güncellemesi
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GalakSay | Y. Mutlu | Mat. Öğretiminde Örnek Uygulamalar Kongresi III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1689811"/>
            <a:ext cx="18288" cy="1828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1433779"/>
            <a:ext cx="20757" cy="20757"/>
          </a:xfrm>
          <a:prstGeom prst="ellipse">
            <a:avLst/>
          </a:prstGeom>
          <a:solidFill>
            <a:srgbClr val="FFFFFF">
              <a:alpha val="35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177747"/>
            <a:ext cx="23226" cy="23226"/>
          </a:xfrm>
          <a:prstGeom prst="ellipse">
            <a:avLst/>
          </a:prstGeom>
          <a:solidFill>
            <a:srgbClr val="FFFFFF">
              <a:alpha val="21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921715"/>
            <a:ext cx="25695" cy="25695"/>
          </a:xfrm>
          <a:prstGeom prst="ellipse">
            <a:avLst/>
          </a:prstGeom>
          <a:solidFill>
            <a:srgbClr val="FFFFFF">
              <a:alpha val="37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665683"/>
            <a:ext cx="28164" cy="28164"/>
          </a:xfrm>
          <a:prstGeom prst="ellipse">
            <a:avLst/>
          </a:prstGeom>
          <a:solidFill>
            <a:srgbClr val="FFFFFF">
              <a:alpha val="23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09651"/>
            <a:ext cx="30632" cy="30632"/>
          </a:xfrm>
          <a:prstGeom prst="ellipse">
            <a:avLst/>
          </a:prstGeom>
          <a:solidFill>
            <a:srgbClr val="FFFFFF">
              <a:alpha val="39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53619"/>
            <a:ext cx="33101" cy="33101"/>
          </a:xfrm>
          <a:prstGeom prst="ellipse">
            <a:avLst/>
          </a:prstGeom>
          <a:solidFill>
            <a:srgbClr val="FFFFFF">
              <a:alpha val="25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5018227"/>
            <a:ext cx="35570" cy="35570"/>
          </a:xfrm>
          <a:prstGeom prst="ellipse">
            <a:avLst/>
          </a:prstGeom>
          <a:solidFill>
            <a:srgbClr val="FFFFFF">
              <a:alpha val="41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762195"/>
            <a:ext cx="38039" cy="38039"/>
          </a:xfrm>
          <a:prstGeom prst="ellipse">
            <a:avLst/>
          </a:prstGeom>
          <a:solidFill>
            <a:srgbClr val="FFFFFF">
              <a:alpha val="27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4506163"/>
            <a:ext cx="40508" cy="40508"/>
          </a:xfrm>
          <a:prstGeom prst="ellipse">
            <a:avLst/>
          </a:prstGeom>
          <a:solidFill>
            <a:srgbClr val="FFFFFF">
              <a:alpha val="43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4250131"/>
            <a:ext cx="42977" cy="4297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3994099"/>
            <a:ext cx="45446" cy="45446"/>
          </a:xfrm>
          <a:prstGeom prst="ellipse">
            <a:avLst/>
          </a:prstGeom>
          <a:solidFill>
            <a:srgbClr val="FFFFFF">
              <a:alpha val="44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38067"/>
            <a:ext cx="20483" cy="20483"/>
          </a:xfrm>
          <a:prstGeom prst="ellipse">
            <a:avLst/>
          </a:prstGeom>
          <a:solidFill>
            <a:srgbClr val="FFFFFF">
              <a:alpha val="30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3482035"/>
            <a:ext cx="22951" cy="22951"/>
          </a:xfrm>
          <a:prstGeom prst="ellipse">
            <a:avLst/>
          </a:prstGeom>
          <a:solidFill>
            <a:srgbClr val="FFFFFF">
              <a:alpha val="46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3226003"/>
            <a:ext cx="25420" cy="25420"/>
          </a:xfrm>
          <a:prstGeom prst="ellipse">
            <a:avLst/>
          </a:prstGeom>
          <a:solidFill>
            <a:srgbClr val="FFFFFF">
              <a:alpha val="32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2969971"/>
            <a:ext cx="27889" cy="27889"/>
          </a:xfrm>
          <a:prstGeom prst="ellipse">
            <a:avLst/>
          </a:prstGeom>
          <a:solidFill>
            <a:srgbClr val="FFFFFF">
              <a:alpha val="48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2713939"/>
            <a:ext cx="30358" cy="30358"/>
          </a:xfrm>
          <a:prstGeom prst="ellipse">
            <a:avLst/>
          </a:prstGeom>
          <a:solidFill>
            <a:srgbClr val="FFFFFF">
              <a:alpha val="34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2457907"/>
            <a:ext cx="32827" cy="32827"/>
          </a:xfrm>
          <a:prstGeom prst="ellipse">
            <a:avLst/>
          </a:prstGeom>
          <a:solidFill>
            <a:srgbClr val="FFFFFF">
              <a:alpha val="20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2201875"/>
            <a:ext cx="35296" cy="35296"/>
          </a:xfrm>
          <a:prstGeom prst="ellipse">
            <a:avLst/>
          </a:prstGeom>
          <a:solidFill>
            <a:srgbClr val="FFFFFF">
              <a:alpha val="36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1945843"/>
            <a:ext cx="37765" cy="37765"/>
          </a:xfrm>
          <a:prstGeom prst="ellipse">
            <a:avLst/>
          </a:prstGeom>
          <a:solidFill>
            <a:srgbClr val="FFFFFF">
              <a:alpha val="22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1689811"/>
            <a:ext cx="40234" cy="40234"/>
          </a:xfrm>
          <a:prstGeom prst="ellipse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63040" y="1433779"/>
            <a:ext cx="42702" cy="42702"/>
          </a:xfrm>
          <a:prstGeom prst="ellipse">
            <a:avLst/>
          </a:prstGeom>
          <a:solidFill>
            <a:srgbClr val="FFFFFF">
              <a:alpha val="23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0" y="1177747"/>
            <a:ext cx="45171" cy="45171"/>
          </a:xfrm>
          <a:prstGeom prst="ellipse">
            <a:avLst/>
          </a:prstGeom>
          <a:solidFill>
            <a:srgbClr val="FFFFFF">
              <a:alpha val="39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921715"/>
            <a:ext cx="20208" cy="20208"/>
          </a:xfrm>
          <a:prstGeom prst="ellipse">
            <a:avLst/>
          </a:prstGeom>
          <a:solidFill>
            <a:srgbClr val="FFFFFF">
              <a:alpha val="25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665683"/>
            <a:ext cx="22677" cy="22677"/>
          </a:xfrm>
          <a:prstGeom prst="ellipse">
            <a:avLst/>
          </a:prstGeom>
          <a:solidFill>
            <a:srgbClr val="FFFFFF">
              <a:alpha val="41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23360" y="409651"/>
            <a:ext cx="25146" cy="25146"/>
          </a:xfrm>
          <a:prstGeom prst="ellipse">
            <a:avLst/>
          </a:prstGeom>
          <a:solidFill>
            <a:srgbClr val="FFFFFF">
              <a:alpha val="27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" y="153619"/>
            <a:ext cx="27615" cy="27615"/>
          </a:xfrm>
          <a:prstGeom prst="ellipse">
            <a:avLst/>
          </a:prstGeom>
          <a:solidFill>
            <a:srgbClr val="FFFFFF">
              <a:alpha val="43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0" y="5018227"/>
            <a:ext cx="30084" cy="30084"/>
          </a:xfrm>
          <a:prstGeom prst="ellipse">
            <a:avLst/>
          </a:prstGeom>
          <a:solidFill>
            <a:srgbClr val="FFFFFF">
              <a:alpha val="29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4762195"/>
            <a:ext cx="32553" cy="32553"/>
          </a:xfrm>
          <a:prstGeom prst="ellipse">
            <a:avLst/>
          </a:prstGeom>
          <a:solidFill>
            <a:srgbClr val="FFFFFF">
              <a:alpha val="45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4506163"/>
            <a:ext cx="35022" cy="35022"/>
          </a:xfrm>
          <a:prstGeom prst="ellipse">
            <a:avLst/>
          </a:prstGeom>
          <a:solidFill>
            <a:srgbClr val="FFFFFF">
              <a:alpha val="31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51760" y="4250131"/>
            <a:ext cx="37490" cy="37490"/>
          </a:xfrm>
          <a:prstGeom prst="ellipse">
            <a:avLst/>
          </a:prstGeom>
          <a:solidFill>
            <a:srgbClr val="FFFFFF">
              <a:alpha val="4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0" y="3994099"/>
            <a:ext cx="39959" cy="39959"/>
          </a:xfrm>
          <a:prstGeom prst="ellipse">
            <a:avLst/>
          </a:prstGeom>
          <a:solidFill>
            <a:srgbClr val="FFFFFF">
              <a:alpha val="32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31920" y="3738067"/>
            <a:ext cx="42428" cy="42428"/>
          </a:xfrm>
          <a:prstGeom prst="ellipse">
            <a:avLst/>
          </a:prstGeom>
          <a:solidFill>
            <a:srgbClr val="FFFFFF">
              <a:alpha val="48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482035"/>
            <a:ext cx="44897" cy="44897"/>
          </a:xfrm>
          <a:prstGeom prst="ellipse">
            <a:avLst/>
          </a:prstGeom>
          <a:solidFill>
            <a:srgbClr val="FFFFFF">
              <a:alpha val="34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12080" y="3226003"/>
            <a:ext cx="19934" cy="19934"/>
          </a:xfrm>
          <a:prstGeom prst="ellipse">
            <a:avLst/>
          </a:prstGeom>
          <a:solidFill>
            <a:srgbClr val="FFFFFF">
              <a:alpha val="20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80160" y="2969971"/>
            <a:ext cx="22403" cy="22403"/>
          </a:xfrm>
          <a:prstGeom prst="ellipse">
            <a:avLst/>
          </a:prstGeom>
          <a:solidFill>
            <a:srgbClr val="FFFFFF">
              <a:alpha val="36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92240" y="2713939"/>
            <a:ext cx="24872" cy="24872"/>
          </a:xfrm>
          <a:prstGeom prst="ellipse">
            <a:avLst/>
          </a:prstGeom>
          <a:solidFill>
            <a:srgbClr val="FFFFFF">
              <a:alpha val="22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0" y="2457907"/>
            <a:ext cx="27341" cy="27341"/>
          </a:xfrm>
          <a:prstGeom prst="ellipse">
            <a:avLst/>
          </a:prstGeom>
          <a:solidFill>
            <a:srgbClr val="FFFFFF">
              <a:alpha val="38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72400" y="2201875"/>
            <a:ext cx="29809" cy="29809"/>
          </a:xfrm>
          <a:prstGeom prst="ellipse">
            <a:avLst/>
          </a:prstGeom>
          <a:solidFill>
            <a:srgbClr val="FFFFFF">
              <a:alpha val="24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0480" y="1945843"/>
            <a:ext cx="32278" cy="32278"/>
          </a:xfrm>
          <a:prstGeom prst="ellipse">
            <a:avLst/>
          </a:prstGeom>
          <a:solidFill>
            <a:srgbClr val="FFFFFF">
              <a:alpha val="40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52560" y="1689811"/>
            <a:ext cx="34747" cy="34747"/>
          </a:xfrm>
          <a:prstGeom prst="ellipse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20640" y="1433779"/>
            <a:ext cx="37216" cy="37216"/>
          </a:xfrm>
          <a:prstGeom prst="ellipse">
            <a:avLst/>
          </a:prstGeom>
          <a:solidFill>
            <a:srgbClr val="FFFFFF">
              <a:alpha val="419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88720" y="1177747"/>
            <a:ext cx="39685" cy="39685"/>
          </a:xfrm>
          <a:prstGeom prst="ellipse">
            <a:avLst/>
          </a:prstGeom>
          <a:solidFill>
            <a:srgbClr val="FFFFFF">
              <a:alpha val="278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921715"/>
            <a:ext cx="42154" cy="42154"/>
          </a:xfrm>
          <a:prstGeom prst="ellipse">
            <a:avLst/>
          </a:prstGeom>
          <a:solidFill>
            <a:srgbClr val="FFFFFF">
              <a:alpha val="437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68880" y="665683"/>
            <a:ext cx="44623" cy="44623"/>
          </a:xfrm>
          <a:prstGeom prst="ellipse">
            <a:avLst/>
          </a:prstGeom>
          <a:solidFill>
            <a:srgbClr val="FFFFFF">
              <a:alpha val="296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80960" y="409651"/>
            <a:ext cx="19660" cy="19660"/>
          </a:xfrm>
          <a:prstGeom prst="ellipse">
            <a:avLst/>
          </a:prstGeom>
          <a:solidFill>
            <a:srgbClr val="FFFFFF">
              <a:alpha val="455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49040" y="153619"/>
            <a:ext cx="22128" cy="22128"/>
          </a:xfrm>
          <a:prstGeom prst="ellipse">
            <a:avLst/>
          </a:prstGeom>
          <a:solidFill>
            <a:srgbClr val="FFFFFF">
              <a:alpha val="314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61120" y="5018227"/>
            <a:ext cx="24597" cy="24597"/>
          </a:xfrm>
          <a:prstGeom prst="ellipse">
            <a:avLst/>
          </a:prstGeom>
          <a:solidFill>
            <a:srgbClr val="FFFFFF">
              <a:alpha val="473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29200" y="4762195"/>
            <a:ext cx="27066" cy="27066"/>
          </a:xfrm>
          <a:prstGeom prst="ellipse">
            <a:avLst/>
          </a:prstGeom>
          <a:solidFill>
            <a:srgbClr val="FFFFFF">
              <a:alpha val="332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97280" y="4506163"/>
            <a:ext cx="29535" cy="29535"/>
          </a:xfrm>
          <a:prstGeom prst="ellipse">
            <a:avLst/>
          </a:prstGeom>
          <a:solidFill>
            <a:srgbClr val="FFFFFF">
              <a:alpha val="491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3200" dirty="0"/>
          </a:p>
        </p:txBody>
      </p:sp>
      <p:sp>
        <p:nvSpPr>
          <p:cNvPr id="53" name="Shape 51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yörüngesi temelli adaptif bir dijital matematik oyunu, hem tipik gelişen hem de diskalkuli riskli çocuklar için bireyselleştirilmiş bir öğrenme zemini sunabilir.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48640" y="23774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8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Sentetik pilot çalışmamız, GalakSay'ın tasarımını sahada-pilot öncesi kalibre etmenin metodolojik bir yolu olarak öne çıkmaktadır. 2026 yaz dönemindeki sahada-pilot, sentetik bulgularımızla karşılaştırmalı olarak yorumlanacaktır.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48640" y="3520440"/>
            <a:ext cx="8046720" cy="914400"/>
          </a:xfrm>
          <a:prstGeom prst="rect">
            <a:avLst/>
          </a:prstGeom>
          <a:solidFill>
            <a:srgbClr val="1A1F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1520" y="3611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 ve İletişim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Yılmaz Mutlu  •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y.mutlu@alparslan.edu.tr  •  Muş Alparslan Üniversitesi
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ve katkılarınız için teşekkürler.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GalakSay — Öğrenme Yörüngesi Temelli Dijital Matematik Oyunu</dc:title>
  <dc:subject>PptxGenJS Presentation</dc:subject>
  <dc:creator>Yılmaz Mutlu — Alparslan Üniversitesi</dc:creator>
  <cp:lastModifiedBy>Yılmaz Mutlu — Alparslan Üniversitesi</cp:lastModifiedBy>
  <cp:revision>1</cp:revision>
  <dcterms:created xsi:type="dcterms:W3CDTF">2026-04-27T15:02:58Z</dcterms:created>
  <dcterms:modified xsi:type="dcterms:W3CDTF">2026-04-27T15:02:58Z</dcterms:modified>
</cp:coreProperties>
</file>
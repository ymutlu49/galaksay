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09651"/>
            <a:ext cx="25146" cy="25146"/>
          </a:xfrm>
          <a:prstGeom prst="ellipse">
            <a:avLst/>
          </a:prstGeom>
          <a:solidFill>
            <a:srgbClr val="FFFFFF">
              <a:alpha val="27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" y="153619"/>
            <a:ext cx="27615" cy="27615"/>
          </a:xfrm>
          <a:prstGeom prst="ellipse">
            <a:avLst/>
          </a:prstGeom>
          <a:solidFill>
            <a:srgbClr val="FFFFFF">
              <a:alpha val="43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5018227"/>
            <a:ext cx="30084" cy="30084"/>
          </a:xfrm>
          <a:prstGeom prst="ellipse">
            <a:avLst/>
          </a:prstGeom>
          <a:solidFill>
            <a:srgbClr val="FFFFFF">
              <a:alpha val="29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762195"/>
            <a:ext cx="32553" cy="32553"/>
          </a:xfrm>
          <a:prstGeom prst="ellipse">
            <a:avLst/>
          </a:prstGeom>
          <a:solidFill>
            <a:srgbClr val="FFFFFF">
              <a:alpha val="45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06163"/>
            <a:ext cx="35022" cy="35022"/>
          </a:xfrm>
          <a:prstGeom prst="ellipse">
            <a:avLst/>
          </a:prstGeom>
          <a:solidFill>
            <a:srgbClr val="FFFFFF">
              <a:alpha val="31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4250131"/>
            <a:ext cx="37490" cy="3749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994099"/>
            <a:ext cx="39959" cy="39959"/>
          </a:xfrm>
          <a:prstGeom prst="ellipse">
            <a:avLst/>
          </a:prstGeom>
          <a:solidFill>
            <a:srgbClr val="FFFFFF">
              <a:alpha val="32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738067"/>
            <a:ext cx="42428" cy="42428"/>
          </a:xfrm>
          <a:prstGeom prst="ellipse">
            <a:avLst/>
          </a:prstGeom>
          <a:solidFill>
            <a:srgbClr val="FFFFFF">
              <a:alpha val="48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82035"/>
            <a:ext cx="44897" cy="44897"/>
          </a:xfrm>
          <a:prstGeom prst="ellipse">
            <a:avLst/>
          </a:prstGeom>
          <a:solidFill>
            <a:srgbClr val="FFFFFF">
              <a:alpha val="34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226003"/>
            <a:ext cx="19934" cy="19934"/>
          </a:xfrm>
          <a:prstGeom prst="ellipse">
            <a:avLst/>
          </a:prstGeom>
          <a:solidFill>
            <a:srgbClr val="FFFFFF">
              <a:alpha val="20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2969971"/>
            <a:ext cx="22403" cy="22403"/>
          </a:xfrm>
          <a:prstGeom prst="ellipse">
            <a:avLst/>
          </a:prstGeom>
          <a:solidFill>
            <a:srgbClr val="FFFFFF">
              <a:alpha val="36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2713939"/>
            <a:ext cx="24872" cy="24872"/>
          </a:xfrm>
          <a:prstGeom prst="ellipse">
            <a:avLst/>
          </a:prstGeom>
          <a:solidFill>
            <a:srgbClr val="FFFFFF">
              <a:alpha val="22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2457907"/>
            <a:ext cx="27341" cy="27341"/>
          </a:xfrm>
          <a:prstGeom prst="ellipse">
            <a:avLst/>
          </a:prstGeom>
          <a:solidFill>
            <a:srgbClr val="FFFFFF">
              <a:alpha val="38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201875"/>
            <a:ext cx="29809" cy="29809"/>
          </a:xfrm>
          <a:prstGeom prst="ellipse">
            <a:avLst/>
          </a:prstGeom>
          <a:solidFill>
            <a:srgbClr val="FFFFFF">
              <a:alpha val="24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945843"/>
            <a:ext cx="32278" cy="32278"/>
          </a:xfrm>
          <a:prstGeom prst="ellipse">
            <a:avLst/>
          </a:prstGeom>
          <a:solidFill>
            <a:srgbClr val="FFFFFF">
              <a:alpha val="40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1689811"/>
            <a:ext cx="34747" cy="3474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1433779"/>
            <a:ext cx="37216" cy="37216"/>
          </a:xfrm>
          <a:prstGeom prst="ellipse">
            <a:avLst/>
          </a:prstGeom>
          <a:solidFill>
            <a:srgbClr val="FFFFFF">
              <a:alpha val="41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1177747"/>
            <a:ext cx="39685" cy="39685"/>
          </a:xfrm>
          <a:prstGeom prst="ellipse">
            <a:avLst/>
          </a:prstGeom>
          <a:solidFill>
            <a:srgbClr val="FFFFFF">
              <a:alpha val="27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21715"/>
            <a:ext cx="42154" cy="42154"/>
          </a:xfrm>
          <a:prstGeom prst="ellipse">
            <a:avLst/>
          </a:prstGeom>
          <a:solidFill>
            <a:srgbClr val="FFFFFF">
              <a:alpha val="43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665683"/>
            <a:ext cx="44623" cy="44623"/>
          </a:xfrm>
          <a:prstGeom prst="ellipse">
            <a:avLst/>
          </a:prstGeom>
          <a:solidFill>
            <a:srgbClr val="FFFFFF">
              <a:alpha val="29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409651"/>
            <a:ext cx="19660" cy="19660"/>
          </a:xfrm>
          <a:prstGeom prst="ellipse">
            <a:avLst/>
          </a:prstGeom>
          <a:solidFill>
            <a:srgbClr val="FFFFFF">
              <a:alpha val="45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53619"/>
            <a:ext cx="22128" cy="22128"/>
          </a:xfrm>
          <a:prstGeom prst="ellipse">
            <a:avLst/>
          </a:prstGeom>
          <a:solidFill>
            <a:srgbClr val="FFFFFF">
              <a:alpha val="31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5018227"/>
            <a:ext cx="24597" cy="24597"/>
          </a:xfrm>
          <a:prstGeom prst="ellipse">
            <a:avLst/>
          </a:prstGeom>
          <a:solidFill>
            <a:srgbClr val="FFFFFF">
              <a:alpha val="47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4762195"/>
            <a:ext cx="27066" cy="27066"/>
          </a:xfrm>
          <a:prstGeom prst="ellipse">
            <a:avLst/>
          </a:prstGeom>
          <a:solidFill>
            <a:srgbClr val="FFFFFF">
              <a:alpha val="33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4506163"/>
            <a:ext cx="29535" cy="29535"/>
          </a:xfrm>
          <a:prstGeom prst="ellipse">
            <a:avLst/>
          </a:prstGeom>
          <a:solidFill>
            <a:srgbClr val="FFFFFF">
              <a:alpha val="49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250131"/>
            <a:ext cx="32004" cy="32004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3994099"/>
            <a:ext cx="34473" cy="34473"/>
          </a:xfrm>
          <a:prstGeom prst="ellipse">
            <a:avLst/>
          </a:prstGeom>
          <a:solidFill>
            <a:srgbClr val="FFFFFF">
              <a:alpha val="20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89520" y="3738067"/>
            <a:ext cx="36942" cy="36942"/>
          </a:xfrm>
          <a:prstGeom prst="ellipse">
            <a:avLst/>
          </a:prstGeom>
          <a:solidFill>
            <a:srgbClr val="FFFFFF">
              <a:alpha val="36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3482035"/>
            <a:ext cx="39411" cy="39411"/>
          </a:xfrm>
          <a:prstGeom prst="ellipse">
            <a:avLst/>
          </a:prstGeom>
          <a:solidFill>
            <a:srgbClr val="FFFFFF">
              <a:alpha val="22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69680" y="3226003"/>
            <a:ext cx="41880" cy="41880"/>
          </a:xfrm>
          <a:prstGeom prst="ellipse">
            <a:avLst/>
          </a:prstGeom>
          <a:solidFill>
            <a:srgbClr val="FFFFFF">
              <a:alpha val="38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2969971"/>
            <a:ext cx="44348" cy="44348"/>
          </a:xfrm>
          <a:prstGeom prst="ellipse">
            <a:avLst/>
          </a:prstGeom>
          <a:solidFill>
            <a:srgbClr val="FFFFFF">
              <a:alpha val="24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5840" y="2713939"/>
            <a:ext cx="19385" cy="19385"/>
          </a:xfrm>
          <a:prstGeom prst="ellipse">
            <a:avLst/>
          </a:prstGeom>
          <a:solidFill>
            <a:srgbClr val="FFFFFF">
              <a:alpha val="40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2457907"/>
            <a:ext cx="21854" cy="21854"/>
          </a:xfrm>
          <a:prstGeom prst="ellipse">
            <a:avLst/>
          </a:prstGeom>
          <a:solidFill>
            <a:srgbClr val="FFFFFF">
              <a:alpha val="26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0" y="2201875"/>
            <a:ext cx="24323" cy="24323"/>
          </a:xfrm>
          <a:prstGeom prst="ellipse">
            <a:avLst/>
          </a:prstGeom>
          <a:solidFill>
            <a:srgbClr val="FFFFFF">
              <a:alpha val="42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98080" y="1945843"/>
            <a:ext cx="26792" cy="26792"/>
          </a:xfrm>
          <a:prstGeom prst="ellipse">
            <a:avLst/>
          </a:prstGeom>
          <a:solidFill>
            <a:srgbClr val="FFFFFF">
              <a:alpha val="28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BİLDİRİ SUNUMU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Yörüngesi Temelli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Bir Matematik Oyununun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Öncesi ve İlkokul Düzeyinde Uygulanması: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548640" y="2697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</a:t>
            </a:r>
            <a:endParaRPr lang="en-US" sz="6000" dirty="0"/>
          </a:p>
        </p:txBody>
      </p:sp>
      <p:sp>
        <p:nvSpPr>
          <p:cNvPr id="66" name="Shape 64"/>
          <p:cNvSpPr/>
          <p:nvPr/>
        </p:nvSpPr>
        <p:spPr>
          <a:xfrm>
            <a:off x="548640" y="3611880"/>
            <a:ext cx="1371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 Mutlu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Muş Alparslan Üniversitesi  •  y.mutlu@alparslan.edu.tr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Öğretiminde Örnek Uygulamalar Kongresi — III  •  Nisan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Akışı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 Gerekçe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1527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Diskalkuli, dijital müdahale literatürü, araştırma sorusu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1847088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2093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yörüngeleri, üçlü kodlama, sentetik öğrenen yöntemi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2414016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80160" y="23682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Tasarımı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0160" y="2660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Mimari, modüller, oyunlaştırma ve adaptif sistem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980944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280160" y="29352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80160" y="3227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Karşılama, galaksi haritası, modüller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80160" y="3502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Pilot Çalışma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8016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ve in-silico ön bulgular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28016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ve Yol Haritası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80160" y="4361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Sınırlılıklar, sahada-pilot planı, kaynakça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 Gerekçe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1143000"/>
            <a:ext cx="25603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%5–7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73736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Diskalkuli prevalansı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Shalev, 2007; Butterworth, 2010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1143000"/>
            <a:ext cx="25603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48056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kritik dönem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hissi → sembolik geçiş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1143000"/>
            <a:ext cx="25603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22376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müdahale verimi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 müdahaleye göre kazanç</a:t>
            </a:r>
            <a:endParaRPr lang="en-US" sz="900" dirty="0"/>
          </a:p>
        </p:txBody>
      </p:sp>
      <p:pic>
        <p:nvPicPr>
          <p:cNvPr id="36" name="Image 0" descr="/sessions/exciting-quirky-darwin/mnt/outputs/charts/diag_A_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8229600" cy="21945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Sorusu: </a:t>
            </a:r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GalakSay, 4–7 yaş çocuklarının sayı hissi gelişimini </a:t>
            </a:r>
            <a:pPr indent="0" marL="0">
              <a:buNone/>
            </a:pPr>
            <a:r>
              <a:rPr lang="en-US" sz="105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yörünge-hedefli ölçekte</a:t>
            </a:r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nasıl destekleyebilir?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 I — Öğrenme Yörüngeleri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Yörüngeleri: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Çocukların matematiksel hedeflere ulaşmak için izledikleri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edilebilir gelişim yolu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bu yolu destekleyen kanıt-temelli görevler 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(Clements &amp; Sarama, 2017).</a:t>
            </a:r>
            <a:endParaRPr lang="en-US" sz="1200" dirty="0"/>
          </a:p>
        </p:txBody>
      </p:sp>
      <p:pic>
        <p:nvPicPr>
          <p:cNvPr id="21" name="Image 0" descr="/sessions/exciting-quirky-darwin/mnt/outputs/charts/diag_E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8412480" cy="2606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LT Temeli: 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yörünge × 5–19 düzey haritası; LearningTrajectories.org / Marsico Institute (Univ. of Denver). MEB (2024) kazanımlarıyla çapraz haritalama.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 II — Üçlü Kodlama Modeli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188720"/>
            <a:ext cx="4023360" cy="868680"/>
          </a:xfrm>
          <a:prstGeom prst="rect">
            <a:avLst/>
          </a:prstGeom>
          <a:solidFill>
            <a:srgbClr val="00D4AA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(Manipülatif)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Taşı, Pul, Enerji Kapsülü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194560"/>
            <a:ext cx="4023360" cy="868680"/>
          </a:xfrm>
          <a:prstGeom prst="rect">
            <a:avLst/>
          </a:prstGeom>
          <a:solidFill>
            <a:srgbClr val="6C63FF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(İkonik)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10'luk Çerçeve, Sayı Doğrusu, Dizi Modeli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4023360" cy="868680"/>
          </a:xfrm>
          <a:prstGeom prst="rect">
            <a:avLst/>
          </a:prstGeom>
          <a:solidFill>
            <a:srgbClr val="FFD93D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SEMBOLİK (Sözel-Dijital)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Rakam, sözel temsil, denklem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Akışı (KEŞFET → BAĞLA)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600200"/>
            <a:ext cx="411480" cy="4114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KEŞFET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materyalle serbest manipülasyon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24028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Somuttan görsel temsile dönüşüm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2880360"/>
            <a:ext cx="411480" cy="41148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ADLANDIR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Görselden sembolik ifadeye geçiş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352044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86400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katmanın senkron etkileşimi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kaynaklar: Dehaene (1992); Dehaene &amp; Cohen (1997); Bruner (1966) — CRA modeli (Concrete-Representational-Abstract).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 III — Sentetik Öğrenen Yöntemi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öğrenen yöntemi: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Hesaplamalı modellerin gerçek katılımcıların yerine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in-silico ön çalışma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kullanıldığı yeni bir paradigma.</a:t>
            </a:r>
            <a:endParaRPr lang="en-US" sz="1200" dirty="0"/>
          </a:p>
        </p:txBody>
      </p:sp>
      <p:pic>
        <p:nvPicPr>
          <p:cNvPr id="20" name="Image 0" descr="/sessions/exciting-quirky-darwin/mnt/outputs/charts/diag_B_paradig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8595360" cy="32461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— Tasarım Felsefesi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Galaktik metafor: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Çocuk, sönmekte olan bir galaksinin kayıp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Işık Kristali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 geri getirmek için yörüngeden yörüngeye yolculuk eder. Her kristal, bir matematiksel yörüngenin ustalaşma simgesidir.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286000"/>
            <a:ext cx="73152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Yörünge-Hedefli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etkinlik bir LT düzeyine eşlenmiş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286000"/>
            <a:ext cx="73152" cy="96012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%75 doğru hedefli scaffold-fading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429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429000"/>
            <a:ext cx="73152" cy="960120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Temsil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Somut–Görsel–Sembolik senkronizasyonu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429000"/>
            <a:ext cx="73152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 Yüklü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Hikâye, karakter, görev tabanlı motivasyon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Pedagojik Mimarisi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6_pedagogica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657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Envanteri — 65 Modül, 8 Kategori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1325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modül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61488" y="132588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Sayı Algı.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6148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modül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1325880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modül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7728" y="1325880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Bileşimi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6772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modül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2697480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887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Basamak Değeri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modül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61488" y="269748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6148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29184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Toplama–Çıkarma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6148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modül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2697480"/>
            <a:ext cx="457200" cy="45720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3949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Çarpma–Bölme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6460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modül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67728" y="269748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4980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Örüntü/Cebir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6772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modül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1E2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 eşlemesi: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modül en az bir Clements &amp; Sarama yörüngesinin belirli LT düzeyine eşlenmiştir. 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(2024) kazanımlarıyla çapraz haritalama yapılmıştır.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 Destek — 5 Kademeli İpucu Sistemi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cevap → kademeli yardım. Çocuk ipucu istedikçe kademe artar; doğru çözüme ulaşıldığında geri çekilir.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1673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Yönlendirici Soru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 özgü sözel ipucu (43+ modül için tanımlı)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Vurgulama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hedefi yanıp sönen çerçeve/ok ile işaretleme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82549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Animasyon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Çözümün ilk adımını animasyonlu gösterme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92424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Animasyon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çözümün adım adım didaktik animasyonu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8016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Deneyim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Yönlendirmeli sürükle-bırak (model imitasyonu)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1691640"/>
            <a:ext cx="3840480" cy="27432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Temeller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22402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Vygotsky (1978): ZPD scaffolding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Sweller (1988): Bilişsel yük yönetimi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Käser ve ark. (2013): Calcularis modeli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Wilson &amp; Dehaene (2009): %75 hedefi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ardışık doğru → ipucu geri çekilir
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 — Karşılama Akışı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0" descr="/sessions/exciting-quirky-darwin/mnt/outputs/final_screens/01_karsil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2606040" cy="2697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Karşılama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Numéra Yıldızı'nın hikâye girişi</a:t>
            </a:r>
            <a:endParaRPr lang="en-US" sz="1000" dirty="0"/>
          </a:p>
        </p:txBody>
      </p:sp>
      <p:pic>
        <p:nvPicPr>
          <p:cNvPr id="17" name="Image 1" descr="/sessions/exciting-quirky-darwin/mnt/outputs/final_screens/02_kayit_formu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143000"/>
            <a:ext cx="2606040" cy="269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Formu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ve sınıf seçimi (4–10 yaş)</a:t>
            </a:r>
            <a:endParaRPr lang="en-US" sz="1000" dirty="0"/>
          </a:p>
        </p:txBody>
      </p:sp>
      <p:pic>
        <p:nvPicPr>
          <p:cNvPr id="20" name="Image 2" descr="/sessions/exciting-quirky-darwin/mnt/outputs/final_screens/03_sinif_secim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143000"/>
            <a:ext cx="2606040" cy="269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Dashboard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2648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Öncesi / 1. Sınıf / 2. Sınıf rotaları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 — Galaksi Haritası ve Modüller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0" descr="/sessions/exciting-quirky-darwin/mnt/outputs/final_screens/05_galaksi_harita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2606040" cy="2697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Galaksi Haritası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durak, ışık kristalleri, kaptan günlüğü</a:t>
            </a:r>
            <a:endParaRPr lang="en-US" sz="1000" dirty="0"/>
          </a:p>
        </p:txBody>
      </p:sp>
      <p:pic>
        <p:nvPicPr>
          <p:cNvPr id="17" name="Image 1" descr="/sessions/exciting-quirky-darwin/mnt/outputs/final_screens/07_sayma_kategoris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143000"/>
            <a:ext cx="2606040" cy="269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Sayma Kategorisi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 düğümleri ve modül bağlantıları</a:t>
            </a:r>
            <a:endParaRPr lang="en-US" sz="1000" dirty="0"/>
          </a:p>
        </p:txBody>
      </p:sp>
      <p:pic>
        <p:nvPicPr>
          <p:cNvPr id="20" name="Image 2" descr="/sessions/exciting-quirky-darwin/mnt/outputs/final_screens/08_modul_giri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143000"/>
            <a:ext cx="2606040" cy="269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Girişi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2648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Sayacık karakteri ile görev tanıtımı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Pilot Çalışma — Yöntem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diag_C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743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" y="3840480"/>
            <a:ext cx="3931920" cy="86868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840480"/>
            <a:ext cx="54864" cy="868680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Temeller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Rasch (1960) IRT  •  Clements &amp; Sarama (2017) LT  •  Käser ve ark. (2013) Calcularis  •  Wilson &amp; Dehaene (2009) %75 hedefi  •  Aher ve ark. (2023) sentetik ajan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3840480"/>
            <a:ext cx="3931920" cy="86868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3840480"/>
            <a:ext cx="54864" cy="868680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Boyutları (3 × 2 × 4 yaş = 36 ajan)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Yaş: 4–7  •  Sayı hissi (θ): Düşük/Tipik/İleri  •  Diskalkuli riski: Var/Yok  •  Çalışma belleği: 0.4–0.95  •  Motivasyon: 0.6–1.0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 — Profil Tipinin Ustalaşma Üzerindeki Etkisi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2_profile_mas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943600" cy="3383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0" y="1051560"/>
            <a:ext cx="2468880" cy="3291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Bulgular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37960" y="1508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Risksiz × Tipik: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 ustalaşma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× Düşük: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%14 ustalaşma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zorluk basamakları riskli grup için yetersiz destek sunuyor — daha düşük başlangıç düzeyine ihtiyaç var.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II — Yörünge Basamaklarının Kalibrasyonu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1_mastery_per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Çıkarım: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basamaklar (≥%70) iyi kalibre; sarı (40–70) gözden geçirilmeli;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T17 (10'a tamamla) ve T10 (sıralama)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ön gereksinim modülleriyle desteklenmesi gereken adaylar.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III — Profil × Basamak Etkileşim Haritası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4_profile_level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108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önerisi: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sayı hissi profili için T08'den önce ek bir köprü modül (T07.5 — '5'lik gruplama') eklenebilir. 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profilde tüm basamaklar kolay → bu profile özel zorluk artışı yapılabilir.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I — Yöntem Konumlandırması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IRT-tabanlı sentetik pilotu, </a:t>
            </a:r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 bilişsel modelleme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geleneğindedir (Käser, 2013). LLM-tabanlı yaklaşımlar (Park, 2023; Gao, 2025) zengindir; fakat </a:t>
            </a:r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hyper-accuracy distortion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(Aher, 2023) ve persona drift (Abdulhai, 2025) çocuk simülasyonu için risk taşır.</a:t>
            </a:r>
            <a:endParaRPr lang="en-US" sz="1200" dirty="0"/>
          </a:p>
        </p:txBody>
      </p:sp>
      <p:pic>
        <p:nvPicPr>
          <p:cNvPr id="17" name="Image 0" descr="/sessions/exciting-quirky-darwin/mnt/outputs/charts/diag_D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83080"/>
            <a:ext cx="8595360" cy="2926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II — Katkılar ve Sınırlılıklar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143000"/>
            <a:ext cx="3931920" cy="3474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143000"/>
            <a:ext cx="393192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Katkılar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169164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Türkçe için yörünge-temelli ilk dijital matematik oyunu prototipi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Üçlü kodlama × LT × adaptif ipucu üçlüsünün tek mimaride sentezi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Diskalkuli risk profiline duyarlı adaptif tasarım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Sentetik pilot ile sahada-pilot öncesi in-silico kalibrasyon yöntemi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MEB (2024) kazanımları ile çapraz haritalama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143000"/>
            <a:ext cx="393192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Sınırlılıklar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169164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Sentetik veri gerçek çocuk verisinin yerini tutmaz; algoritmik fidelity (Pellert, 2025) validasyonu gerekir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1-PL Rasch motivasyon dinamiklerini sadeleştirir; KC tabanlı modelleme (Lu &amp; Wang, 2024) daha zengin olabilir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Öğretmen-aracılı kullanım simüle edilmedi (Marquez, 2025)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Kültürel uyarlama (Niszczota, 2025) ve dil çeşitliliği henüz test edilmedi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Haritası — Sahada Pilot Çalışma Planı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280160"/>
            <a:ext cx="1874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Onay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Üniversite etik kurul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Veli izinleri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Okul izinleri
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1280160"/>
            <a:ext cx="187452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Uygulama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8892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n=24 (4–7 yaş, %50 risk)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hafta × 2 oturum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15–20 dk/oturum
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280160"/>
            <a:ext cx="187452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Analizi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Sentetik ↔ gerçek karşılaştırma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TEMA-3, MEGEP ön/son test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Kullanılabilirlik (SUS-Kid)
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1280160"/>
            <a:ext cx="18745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Kalibrasyon raporu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Hakemli dergi makalesi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v6.0 güncellemesi
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09651"/>
            <a:ext cx="25146" cy="25146"/>
          </a:xfrm>
          <a:prstGeom prst="ellipse">
            <a:avLst/>
          </a:prstGeom>
          <a:solidFill>
            <a:srgbClr val="FFFFFF">
              <a:alpha val="27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" y="153619"/>
            <a:ext cx="27615" cy="27615"/>
          </a:xfrm>
          <a:prstGeom prst="ellipse">
            <a:avLst/>
          </a:prstGeom>
          <a:solidFill>
            <a:srgbClr val="FFFFFF">
              <a:alpha val="43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5018227"/>
            <a:ext cx="30084" cy="30084"/>
          </a:xfrm>
          <a:prstGeom prst="ellipse">
            <a:avLst/>
          </a:prstGeom>
          <a:solidFill>
            <a:srgbClr val="FFFFFF">
              <a:alpha val="29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762195"/>
            <a:ext cx="32553" cy="32553"/>
          </a:xfrm>
          <a:prstGeom prst="ellipse">
            <a:avLst/>
          </a:prstGeom>
          <a:solidFill>
            <a:srgbClr val="FFFFFF">
              <a:alpha val="45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06163"/>
            <a:ext cx="35022" cy="35022"/>
          </a:xfrm>
          <a:prstGeom prst="ellipse">
            <a:avLst/>
          </a:prstGeom>
          <a:solidFill>
            <a:srgbClr val="FFFFFF">
              <a:alpha val="31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4250131"/>
            <a:ext cx="37490" cy="3749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994099"/>
            <a:ext cx="39959" cy="39959"/>
          </a:xfrm>
          <a:prstGeom prst="ellipse">
            <a:avLst/>
          </a:prstGeom>
          <a:solidFill>
            <a:srgbClr val="FFFFFF">
              <a:alpha val="32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738067"/>
            <a:ext cx="42428" cy="42428"/>
          </a:xfrm>
          <a:prstGeom prst="ellipse">
            <a:avLst/>
          </a:prstGeom>
          <a:solidFill>
            <a:srgbClr val="FFFFFF">
              <a:alpha val="48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82035"/>
            <a:ext cx="44897" cy="44897"/>
          </a:xfrm>
          <a:prstGeom prst="ellipse">
            <a:avLst/>
          </a:prstGeom>
          <a:solidFill>
            <a:srgbClr val="FFFFFF">
              <a:alpha val="34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226003"/>
            <a:ext cx="19934" cy="19934"/>
          </a:xfrm>
          <a:prstGeom prst="ellipse">
            <a:avLst/>
          </a:prstGeom>
          <a:solidFill>
            <a:srgbClr val="FFFFFF">
              <a:alpha val="20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2969971"/>
            <a:ext cx="22403" cy="22403"/>
          </a:xfrm>
          <a:prstGeom prst="ellipse">
            <a:avLst/>
          </a:prstGeom>
          <a:solidFill>
            <a:srgbClr val="FFFFFF">
              <a:alpha val="36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2713939"/>
            <a:ext cx="24872" cy="24872"/>
          </a:xfrm>
          <a:prstGeom prst="ellipse">
            <a:avLst/>
          </a:prstGeom>
          <a:solidFill>
            <a:srgbClr val="FFFFFF">
              <a:alpha val="22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2457907"/>
            <a:ext cx="27341" cy="27341"/>
          </a:xfrm>
          <a:prstGeom prst="ellipse">
            <a:avLst/>
          </a:prstGeom>
          <a:solidFill>
            <a:srgbClr val="FFFFFF">
              <a:alpha val="38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201875"/>
            <a:ext cx="29809" cy="29809"/>
          </a:xfrm>
          <a:prstGeom prst="ellipse">
            <a:avLst/>
          </a:prstGeom>
          <a:solidFill>
            <a:srgbClr val="FFFFFF">
              <a:alpha val="24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945843"/>
            <a:ext cx="32278" cy="32278"/>
          </a:xfrm>
          <a:prstGeom prst="ellipse">
            <a:avLst/>
          </a:prstGeom>
          <a:solidFill>
            <a:srgbClr val="FFFFFF">
              <a:alpha val="40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1689811"/>
            <a:ext cx="34747" cy="3474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1433779"/>
            <a:ext cx="37216" cy="37216"/>
          </a:xfrm>
          <a:prstGeom prst="ellipse">
            <a:avLst/>
          </a:prstGeom>
          <a:solidFill>
            <a:srgbClr val="FFFFFF">
              <a:alpha val="41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1177747"/>
            <a:ext cx="39685" cy="39685"/>
          </a:xfrm>
          <a:prstGeom prst="ellipse">
            <a:avLst/>
          </a:prstGeom>
          <a:solidFill>
            <a:srgbClr val="FFFFFF">
              <a:alpha val="27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21715"/>
            <a:ext cx="42154" cy="42154"/>
          </a:xfrm>
          <a:prstGeom prst="ellipse">
            <a:avLst/>
          </a:prstGeom>
          <a:solidFill>
            <a:srgbClr val="FFFFFF">
              <a:alpha val="43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665683"/>
            <a:ext cx="44623" cy="44623"/>
          </a:xfrm>
          <a:prstGeom prst="ellipse">
            <a:avLst/>
          </a:prstGeom>
          <a:solidFill>
            <a:srgbClr val="FFFFFF">
              <a:alpha val="29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409651"/>
            <a:ext cx="19660" cy="19660"/>
          </a:xfrm>
          <a:prstGeom prst="ellipse">
            <a:avLst/>
          </a:prstGeom>
          <a:solidFill>
            <a:srgbClr val="FFFFFF">
              <a:alpha val="45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53619"/>
            <a:ext cx="22128" cy="22128"/>
          </a:xfrm>
          <a:prstGeom prst="ellipse">
            <a:avLst/>
          </a:prstGeom>
          <a:solidFill>
            <a:srgbClr val="FFFFFF">
              <a:alpha val="31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5018227"/>
            <a:ext cx="24597" cy="24597"/>
          </a:xfrm>
          <a:prstGeom prst="ellipse">
            <a:avLst/>
          </a:prstGeom>
          <a:solidFill>
            <a:srgbClr val="FFFFFF">
              <a:alpha val="47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4762195"/>
            <a:ext cx="27066" cy="27066"/>
          </a:xfrm>
          <a:prstGeom prst="ellipse">
            <a:avLst/>
          </a:prstGeom>
          <a:solidFill>
            <a:srgbClr val="FFFFFF">
              <a:alpha val="33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4506163"/>
            <a:ext cx="29535" cy="29535"/>
          </a:xfrm>
          <a:prstGeom prst="ellipse">
            <a:avLst/>
          </a:prstGeom>
          <a:solidFill>
            <a:srgbClr val="FFFFFF">
              <a:alpha val="49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200" dirty="0"/>
          </a:p>
        </p:txBody>
      </p:sp>
      <p:sp>
        <p:nvSpPr>
          <p:cNvPr id="53" name="Shape 51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yörüngesi temelli adaptif bir dijital matematik oyunu, hem tipik gelişen hem de diskalkuli riskli çocuklar için bireyselleştirilmiş bir öğrenme zemini sunabilir.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IRT-tabanlı sentetik pilotumuz, GalakSay'ın tasarımını sahada-pilot öncesi kalibre etmenin metodolojik bir yolu olarak öne çıkmaktadır. 2026 yaz dönemindeki sahada-pilot, sentetik bulgularımızla algoritmic fidelity karşılaştırmasıyla yorumlanacaktır.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 ve İletişim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 Mutlu  •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y.mutlu@alparslan.edu.tr  •  Muş Alparslan Üniversitesi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ve katkılarınız için teşekkürler.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Kaynakça (Seçilmiş)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Yörüngeleri &amp; Bilişsel Kuram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128016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Clements, D.H., &amp; Sarama, J. (2017). Learning and teaching early math: The learning trajectories approach (3rd ed.). Routledge.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Dehaene, S. (1992). Varieties of numerical abilities. Cognition, 44(1–2), 1–42.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Butterworth, B. (2010). Foundational numerical capacities and the origins of dyscalculia. Trends in Cognitive Sciences, 14(12), 534–541.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Shalev, R.S. (2007). Prevalence of developmental dyscalculia. In Berch &amp; Mazzocco (Eds.), Why is math so hard for some children? Brookes.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Wilson, A.J., Dehaene, S., et al. (2009). Effects of an adaptive game intervention on accessing number sense. Mind, Brain &amp; Education, 3(4).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Käser, T., et al. (2013). Modelling and optimising mathematics learning in children. International Journal of AI in Education, 23(1).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Ajan &amp; Üretici Öğrenci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Park, J.S., O'Brien, J.C., Cai, C.J., et al. (2023). Generative agents: Interactive simulacra of human behavior. UIST '23, ACM.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Aher, G., Arriaga, R.I., &amp; Kalai, A.T. (2023). Using LLMs to simulate multiple humans and replicate human subject studies. ICML 2023.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Marquez-Carpintero, L., et al. (2025). Simulating students with LLMs: A review of architecture, mechanisms, and role modelling. arXiv:2511.06078.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Niszczota, P., Janczak, M., &amp; Misiak, M. (2025). LLMs replicate cross-cultural differences in personality. J. of Research in Personality, 115, 104584.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 Palatsi, A., et al. (2025). LLMs replicate and predict human cooperation across game theory experiments. arXiv:2511.04500.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Abdulhai, M., et al. (2025). Consistently simulating human personas with multi-turn RL. arXiv:2511.00222.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Rasch, G. (1960). Probabilistic models for some intelligence and attainment tests. Danish Inst. for Educational Research.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GalakSay — Öğrenme Yörüngesi Temelli Dijital Matematik Oyunu</dc:title>
  <dc:subject>PptxGenJS Presentation</dc:subject>
  <dc:creator>Yılmaz Mutlu — Alparslan Üniversitesi</dc:creator>
  <cp:lastModifiedBy>Yılmaz Mutlu — Alparslan Üniversitesi</cp:lastModifiedBy>
  <cp:revision>1</cp:revision>
  <dcterms:created xsi:type="dcterms:W3CDTF">2026-04-30T06:49:32Z</dcterms:created>
  <dcterms:modified xsi:type="dcterms:W3CDTF">2026-04-30T06:49:32Z</dcterms:modified>
</cp:coreProperties>
</file>